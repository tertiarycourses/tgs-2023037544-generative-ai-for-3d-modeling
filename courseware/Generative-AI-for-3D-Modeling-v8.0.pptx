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Contribution to production readiness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AI acceleration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First concept</c:v>
                </c:pt>
                <c:pt idx="1">
                  <c:v>Clean geometry</c:v>
                </c:pt>
                <c:pt idx="2">
                  <c:v>Validated asset</c:v>
                </c:pt>
                <c:pt idx="3">
                  <c:v>Released package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35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Human/Blender validation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First concept</c:v>
                </c:pt>
                <c:pt idx="1">
                  <c:v>Clean geometry</c:v>
                </c:pt>
                <c:pt idx="2">
                  <c:v>Validated asset</c:v>
                </c:pt>
                <c:pt idx="3">
                  <c:v>Released package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65</c:v>
                </c:pt>
                <c:pt idx="3">
                  <c:v>75</c:v>
                </c:pt>
              </c:numCache>
            </c:numRef>
          </c:val>
        </c:ser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out"/>
        <c:minorTickMark val="none"/>
        <c:tickLblPos val="nextTo"/>
        <c:crossAx val="2180972856"/>
        <c:crosses val="autoZero"/>
        <c:auto val="1"/>
        <c:lblAlgn val="ctr"/>
        <c:lblOffset val="100"/>
        <c:noMultiLvlLbl val="0"/>
      </c:catAx>
      <c:valAx>
        <c:axId val="2180972856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2226939960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rcRect l="24212" r="24212"/>
          <a:stretch>
            <a:fillRect/>
          </a:stretch>
        </p:blipFill>
        <p:spPr>
          <a:xfrm>
            <a:off x="6172200" y="0"/>
            <a:ext cx="6016752" cy="656539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0" y="0"/>
            <a:ext cx="1188720" cy="6565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60720" y="0"/>
            <a:ext cx="1463040" cy="6565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19456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502920"/>
            <a:ext cx="658368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417320"/>
            <a:ext cx="516636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5257800" cy="1645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>
                <a:solidFill>
                  <a:srgbClr val="182230"/>
                </a:solidFill>
                <a:latin typeface="Arial"/>
              </a:rPr>
              <a:t>Generative AI for 3D Modeling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9476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5D6878"/>
                </a:solidFill>
                <a:latin typeface="Arial"/>
              </a:rPr>
              <a:t>Course Code: TGS-2023037544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224528"/>
            <a:ext cx="5120640" cy="56692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Tertiary Infotech Academy Pte Ltd
UEN 201200696W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074920"/>
            <a:ext cx="51206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D6878"/>
                </a:solidFill>
                <a:latin typeface="Arial"/>
              </a:rPr>
              <a:t>Trainer: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532120"/>
            <a:ext cx="512064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D6878"/>
                </a:solidFill>
                <a:latin typeface="Arial"/>
              </a:rPr>
              <a:t>Version v8.0 · 15 August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6601968"/>
            <a:ext cx="113385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 · Concept visual generated for this course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9B8E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Welcome, outcomes and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Four days · 32 hours · Blender-based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009B8E"/>
                </a:solidFill>
                <a:latin typeface="Arial"/>
              </a:rPr>
              <a:t>00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</p:spTree>
  </p:cSld>
  <p:transition spd="fast">
    <p:push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the SSG digital attendance at the start of each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the afternoon attendance after lunch.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Assessment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the assessment attendance before the WA and PP.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Funding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At least 75% attendance and a Competent result are required.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5D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D6878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108960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81912" y="2267712"/>
            <a:ext cx="1261872" cy="1261872"/>
          </a:xfrm>
          <a:prstGeom prst="ellipse">
            <a:avLst/>
          </a:prstGeom>
          <a:solidFill>
            <a:srgbClr val="5D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2267712"/>
            <a:ext cx="1261872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67912"/>
            <a:ext cx="2587752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82230"/>
                </a:solidFill>
                <a:latin typeface="Arial"/>
              </a:rPr>
              <a:t>General Trainer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2587752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Complete this profile before class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6512" y="178308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96512" y="178308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185623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3794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6512" y="2487168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6512" y="2487168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560320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TITLE / DESIGNATION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42032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6512" y="3191256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96512" y="3191256"/>
            <a:ext cx="73152" cy="5669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264408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04CD9"/>
                </a:solidFill>
                <a:latin typeface="Arial"/>
              </a:rPr>
              <a:t>QUALIFICATIONS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246120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6512" y="3895344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96512" y="3895344"/>
            <a:ext cx="73152" cy="566928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68496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29F05"/>
                </a:solidFill>
                <a:latin typeface="Arial"/>
              </a:rPr>
              <a:t>AREAS OF EXPERTISE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50208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6512" y="4599432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96512" y="4599432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4672584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TRAINING AND INDUSTRY EXPERIENCE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654296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96512" y="530352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96512" y="5303520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70832" y="537667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35838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108960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81912" y="2267712"/>
            <a:ext cx="1261872" cy="126187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81912" y="2267712"/>
            <a:ext cx="1261872" cy="12618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67912"/>
            <a:ext cx="2587752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82230"/>
                </a:solidFill>
                <a:latin typeface="Arial"/>
              </a:rPr>
              <a:t>Dr Alfred 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2587752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6512" y="178308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96512" y="178308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0832" y="185623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3794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Principal Trainer and courseware lead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96512" y="2487168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96512" y="2487168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2560320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CERTIFICATION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42032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Adult education and applied technology training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6512" y="3191256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96512" y="3191256"/>
            <a:ext cx="73152" cy="5669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70832" y="3264408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704CD9"/>
                </a:solidFill>
                <a:latin typeface="Arial"/>
              </a:rPr>
              <a:t>DELIVERS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246120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AI, automation, data and digital design programmes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6512" y="3895344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96512" y="3895344"/>
            <a:ext cx="73152" cy="566928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0832" y="3968496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F29F05"/>
                </a:solidFill>
                <a:latin typeface="Arial"/>
              </a:rPr>
              <a:t>FOUNDER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50208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Tertiary Infotech / Tertiary Courses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6512" y="4599432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96512" y="4599432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4672584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F6FEB"/>
                </a:solidFill>
                <a:latin typeface="Arial"/>
              </a:rPr>
              <a:t>APPROACH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654296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Concept-led teaching with evidence-based practice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96512" y="5303520"/>
            <a:ext cx="7388352" cy="5669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96512" y="5303520"/>
            <a:ext cx="73152" cy="5669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70832" y="5376672"/>
            <a:ext cx="205740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009B8E"/>
                </a:solidFill>
                <a:latin typeface="Arial"/>
              </a:rPr>
              <a:t>CONTACT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358384"/>
            <a:ext cx="470916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20" b="0">
                <a:solidFill>
                  <a:srgbClr val="182230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Let’s know each other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Name, role and organisation.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Your exposure to Blender, 3D design or generative AI.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Use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model or workflow you want to improve.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Outcome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One capability you want to demonstrate by Day 4.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LEARNING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Ground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Participate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Ask questions and explain your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Respect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Give constructive feedback on work, not people.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91840"/>
            <a:ext cx="82296" cy="1353312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3520440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only authorised, non-confidential inputs.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3291840"/>
            <a:ext cx="82296" cy="1353312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3520440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Treat generated output as unverified until checked.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64608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5093208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Save incremental copies before risky operations.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4204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4204" y="4864608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5093208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0316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0316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Capture the process, not only the final render.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FOUR-DAY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Course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Topic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Generate concepts and models with AI support in Blender.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Topic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Analyse, validate and refine geometry, UVs and materials.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Topic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Optimise, document, export and release production assets.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Assessment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Six SAQs and three integrated practical tasks.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Lesson plan — Days 1 and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AI-assisted workflow and model briefs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Prompt architecture and references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Blender scene structure and bpy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Activities 1–3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DAY 2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Variation and responsible use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Validation and topology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Mesh repair and evidence</a:t>
            </a:r>
          </a:p>
        </p:txBody>
      </p:sp>
      <p:sp>
        <p:nvSpPr>
          <p:cNvPr id="26" name="Oval 25"/>
          <p:cNvSpPr/>
          <p:nvPr/>
        </p:nvSpPr>
        <p:spPr>
          <a:xfrm>
            <a:off x="6473952" y="4700016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3136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Activities 4–6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Lesson plan — Days 3 and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DAY 3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Retopology and polygon budgets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UVs and PBR materials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AI-assisted textures and lighting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Activities 7–8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DAY 4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Standards, rendering and export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Game and print workflows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Capstone review package</a:t>
            </a:r>
          </a:p>
        </p:txBody>
      </p:sp>
      <p:sp>
        <p:nvSpPr>
          <p:cNvPr id="26" name="Oval 25"/>
          <p:cNvSpPr/>
          <p:nvPr/>
        </p:nvSpPr>
        <p:spPr>
          <a:xfrm>
            <a:off x="6473952" y="4700016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3136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3-hour WA + PP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BY THE END OF THE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Devise metrics for AI-assisted 3D design outputs and formulate solutions to modelling problems.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Analyse Blender models for accuracy, topology quality and alignment with design requirements.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Review and prepare 3D assets for organisational needs, applicable standards and production delivery.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Every outcome is demonstrated through progressive Blender activities.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TECHNICAL DRAWING · BEV-TDR-4005-1.1-1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TSC alignment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K1–K3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Conventions, digital methods, drawing/model types and specifications.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K4–K6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Standards, design documentation and enabling IT concepts.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A1–A2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Define quality metrics and solve modelling problems.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A3–A6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Review accuracy, construction needs, strategy and conformance.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READ 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Individual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No discussion; complete your own submission.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Open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slides, Learner Guide and approved materials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91840"/>
            <a:ext cx="82296" cy="1353312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3520440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Place phones and other unapproved materials under the table.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3291840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3291840"/>
            <a:ext cx="82296" cy="1353312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3520440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3520440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3456432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3913632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No photography or recording of assessment scripts.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64608"/>
            <a:ext cx="82296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77824" y="5093208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Writing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black/blue pen where hard copy is used; no correction fluid.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04204" y="4864608"/>
            <a:ext cx="5289804" cy="135331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04204" y="4864608"/>
            <a:ext cx="82296" cy="135331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5093208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5093208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0316" y="5029200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Submission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0316" y="5486400"/>
            <a:ext cx="4192524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Upload the completed document to the LMS.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ASSESSMENT AND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Final assessment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Written Assessment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6 open-ended SAQs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K1–K6 coverage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28853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1 hour · open 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Practical Performance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3 integrated Blender tasks</a:t>
            </a:r>
          </a:p>
        </p:txBody>
      </p:sp>
      <p:sp>
        <p:nvSpPr>
          <p:cNvPr id="20" name="Oval 19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A1–A6 coverage</a:t>
            </a:r>
          </a:p>
        </p:txBody>
      </p:sp>
      <p:sp>
        <p:nvSpPr>
          <p:cNvPr id="22" name="Oval 21"/>
          <p:cNvSpPr/>
          <p:nvPr/>
        </p:nvSpPr>
        <p:spPr>
          <a:xfrm>
            <a:off x="4626864" y="4288536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2 hours · open book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Competency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Assessment attendance</a:t>
            </a:r>
          </a:p>
        </p:txBody>
      </p:sp>
      <p:sp>
        <p:nvSpPr>
          <p:cNvPr id="29" name="Oval 28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Competent / Not Yet Competent</a:t>
            </a:r>
          </a:p>
        </p:txBody>
      </p:sp>
      <p:sp>
        <p:nvSpPr>
          <p:cNvPr id="31" name="Oval 30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Appeal and reassessment available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Assessment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TRAQOM / SSG attendance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Written Assessment (SAQ)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Practical Performance (PP)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Upload answers to LMS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SELF-CONTAINED FOLDERS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Access the activity packs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Option A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Open the GitHub repository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Clone with Git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28853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Work from activities/NN-title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Option B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GitHub Code menu</a:t>
            </a:r>
          </a:p>
        </p:txBody>
      </p:sp>
      <p:sp>
        <p:nvSpPr>
          <p:cNvPr id="20" name="Oval 19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Download ZIP</a:t>
            </a:r>
          </a:p>
        </p:txBody>
      </p:sp>
      <p:sp>
        <p:nvSpPr>
          <p:cNvPr id="22" name="Oval 21"/>
          <p:cNvSpPr/>
          <p:nvPr/>
        </p:nvSpPr>
        <p:spPr>
          <a:xfrm>
            <a:off x="4626864" y="4288536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Extract before opening files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Evidence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Follow INSTRUCTIONS.md</a:t>
            </a:r>
          </a:p>
        </p:txBody>
      </p:sp>
      <p:sp>
        <p:nvSpPr>
          <p:cNvPr id="29" name="Oval 28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CHECKLIST.md</a:t>
            </a:r>
          </a:p>
        </p:txBody>
      </p:sp>
      <p:sp>
        <p:nvSpPr>
          <p:cNvPr id="31" name="Oval 30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Update Example-Presentation.pptx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532120"/>
            <a:ext cx="854964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38528" y="5577840"/>
            <a:ext cx="8321040" cy="3017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https://github.com/tertiarycourses/TGS-2023037544-Generative-AI-for-3D-Modeling</a:t>
            </a:r>
          </a:p>
        </p:txBody>
      </p:sp>
    </p:spTree>
  </p:cSld>
  <p:transition spd="fast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AI-ASSISTED DESIGN MATURITY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From blockout to production-ready asset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duct-variants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Compare the same design at three maturity levels: blockout, topology-controlled model and finished material render. Each level answers a different review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QUALITY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Where production readiness comes from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9808" y="1828800"/>
          <a:ext cx="7498079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49640" y="1828800"/>
            <a:ext cx="2926080" cy="3977639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51392" y="217627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WHAT THE DATA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51392" y="2743200"/>
            <a:ext cx="2331720" cy="2377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AI assistance can accelerate the first model, but production readiness comes from Blender validation, repair and evidence.
The course measures both speed and conformance.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COVERAGE AND MODERNIZATION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Source-informed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Legacy deck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Preserved TSC, assessment and technical-drawing coverage as the floor.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Course page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Aligned the four-day course, outcomes and three topic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Video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Adopted the ChatGPT-to-Blender script loop and error-feedback practice.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Blender Manual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Updated terminology and production workflow around Blender.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Generative AI for 3D Design Concepts and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Briefs · prompts · Blender foundations · script-assisted construction · design variants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1F6FEB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</a:t>
            </a:r>
          </a:p>
        </p:txBody>
      </p:sp>
    </p:spTree>
  </p:cSld>
  <p:transition spd="fast">
    <p:push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PROGRESSIVE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1 — capability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Briefs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prompts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K1 · K2 · K3 · K6 · A1 · A2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Demonstrate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Activities 1–4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CONCEPT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AI-assisted 3D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Define purpose, audience, dimensions and constraints.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Produce concepts, scripts or reference images.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 geometry, topology and materials in Blender.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Validate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Measure, inspect and document before release.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22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AI-assisted 3D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the AI contribution before choosing a tool.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a human approval gate after every generated output.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Preserve prompt, version and source evidence.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Treat generated geometry as unverified input.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Plausible-looking geometry may be structurally unusable.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Generated scripts can reference outdated API calls.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Untracked iterations make decisions impossible to audit.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23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AI-assisted 3D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Generative AI accelerates ideation and repetitive construction; Blender remains the environment for inspection, correction and accountable delivery.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product designer asks AI for a Blender blockout script, runs it in a duplicate file, then checks scale, silhouette and topology before continuing.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Time to first valid blockout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Percentage of validation checks passed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Number of repair iterations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24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CONCEPT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From requirement to model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Purpose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Game prop, print, visualisation, animation or marketing.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Geometry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Dimensions, proportions, silhouette and required moving parts.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Appearance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Material family, colour, finish and lighting context.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Delivery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File format, polygon budget, scale and evidence.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From requirement to model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must-have constraints from creative preferences.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State units and coordinate assumptions explicitly.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Define acceptance evidence before generation.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Identify what must remain editable.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Missing units create scale errors.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Visual adjectives without geometry cues produce inconsistent variants.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Unclear delivery formats cause rework.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26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From requirement to model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precise model brief converts ambiguous intent into testable geometry, appearance and delivery requirements.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Instead of 'make a modern speaker', specify a 180 mm desktop speaker, rounded enclosure, front grille, separate control knob, neutral materials and glTF delivery.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Brief completeness score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Number of ambiguous requirements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Acceptance criteria 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CONCEPT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Prompt architecture for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Name the object and its functional parts.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Specify primitives, proportions and symmetry.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State manifold, quad flow or low-poly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Request a Blender Python script or a reference image deliberately.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28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Prompt architecture for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Blender terms when asking for Blender actions.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Break complex objects into reusable components.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Request named objects and collections.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Ask for safe, rerunnable scripts.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One-sentence 'magic wand' prompts hide constraints.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Overly complex requests increase script failure points.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Visual style words do not guarantee printable geometry.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29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Prompt architecture for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Effective prompts describe topology-relevant structure, not only visual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useful request names a body, bezel, knob and feet; states dimensions; requests bevel and weighted-normal modifiers; and asks the script to save no files automatically.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Required parts created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Object naming compliance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Script rerun success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30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CONCEPT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Reference-image literacy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Identify perspective, focal length and occluded surfaces.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Find a known dimension or reference object.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Symmetry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Decide what can be mirrored.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Uncertainty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Mark inferred surfaces and assumptions.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31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Reference-image literacy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Prefer orthographic front/side/top references when available.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 not trace perspective distortion as real geometry.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Document assumptions for unseen surfaces.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multiple images to triangulate 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Perspective can distort proportions.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AI-generated references may contain impossible joins.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Copyright or provenance may be unclear.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32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Reference-image literacy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reference image is evidence of appearance, not proof of hidden geometry or real-world dimensions.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single three-quarter product image supports silhouette and material decisions, but the underside, wall thickness and exact depth remain assumptions.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Views available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Known dimensions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Assumptions recorded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33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CONCEPT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Blender scene and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Object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Transform container positioned in the scene.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Mesh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Vertices, edges and faces shared by an object.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Collection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Logical grouping for visibility and export.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Scene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World, camera, render and unit settings.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34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Blender scene and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Name objects by purpose, not primitive type.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collections for source, working and approved states.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 transforms only when the downstream operation requires it.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Save incremental versions.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Renaming only the mesh data can leave confusing object names.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Unapplied scale can distort bevels and exports.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Linked data can cause edits to affect multiple objects.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Blender scene and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Blender separates objects, object data, materials, collections and scene settings; understanding that structure prevents destructive 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AI_Device_BODY and AI_Device_KNOB live in a WORKING collection; a duplicate approved collection is locked before risky cleanup.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Named-object compliance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Collection organisation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Transform hygiene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36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CONCEPT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Coordinate systems, units and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Metric or imperial with an explicit scale.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Blender Z-up; target engines may use Y-up.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Origin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Defines placement, rotation and export behaviour.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Transforms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Location, rotation and scale must be deliberate.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37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Coordinate systems, units and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Set scene units before dimensional work.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Place origins at meaningful assembly or pivot points.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 scale before bevel, physics and export when appropriate.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import in the target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1000× size errors between metres and millimetres.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pivot breaks animation or placement.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Negative scale can flip normals.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38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Coordinate systems, units and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model can look correct in the viewport and still fail in manufacturing or another application because units and axes are wrong.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180 mm prototype is modeled as 0.18 m, origin at its base centre, scale 1/1/1, and export conversion documented.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Bounding-box dimensions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Transform values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Round-trip scale error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39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CONCEPT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Mesh anatomy and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Points that define positions.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Connections controlling flow and boundaries.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Faces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Surface polygons with winding and normals.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Continuous selections used for form and topology control.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40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Mesh anatomy and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object mode for whole-object transforms.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edit mode for component-level changes.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Select by topology, not only by screen rectangle.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hidden and internal geometry.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Accidental duplicate vertices create shading and manifold defects.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Hidden internal faces increase polygon count.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Random edge flow causes pinching.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41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Mesh anatomy and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Vertices, edges, faces, loops and islands are the editable structure that turns an AI concept into controllable geometry.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supporting loop around a product opening controls its edge sharpness under subdivision without adding an unrelated separate object.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Non-manifold elements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Duplicate vertices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Edge-flow continuity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42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CONCEPT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Primitive-based blockout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Hard-surface bodies and enclosures.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Cylinder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Knobs, ports and radial features.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Profiles, panels and reference surfaces.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Curve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Cables, trims and controlled sweeps.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43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Primitive-based blockout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Validate silhouette from multiple views.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components separate while proportions change.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symmetry before manual duplication.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Delay bevel and micro-detail.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Detail can hide incorrect proportion.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Boolean-heavy blockouts become brittle if unmanaged.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Joined meshes are harder to revise.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Primitive-based blockout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Simple primitives establish proportion and hierarchy faster and more safely than prematurely detailed meshes.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desktop device begins as a beveled box, a cylinder knob and a recessed panel; the team approves silhouette before adding vents.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Silhouette approval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Primary dimension error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Number of editable components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CONCEPT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Non-destructive modifiers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Mirror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Symmetric construction from one 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Bevel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Manufacturable edge treatment and highlights.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Subdivision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Smooth form from a control cage.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Solidify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Thickness from a surface.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46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Non-destructive modifiers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Order modifiers by dependency.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conservative viewport levels for performance.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Name critical modifiers.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 only at a controlled handoff 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stack order changes geometry.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Applying too early destroys editability.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Unapplied scale changes bevel width.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Non-destructive modifiers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modifier stack records intent and preserves editability while transforming the visible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Mirror → Bevel → Weighted Normal produces a symmetric hard-surface body with controlled highlights and editable dimensions.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Modifier count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Stack order check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Applied-vs-live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48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CONCEPT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Blender Python and bpy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Data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Direct access to objects, meshes, materials and scenes.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Operators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Context-sensitive actions similar to UI commands.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Idempotence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 safe rerun reaches the same intended state.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Logging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Names and messages make failures diagnosable.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49</a:t>
            </a:r>
          </a:p>
        </p:txBody>
      </p:sp>
    </p:spTree>
  </p:cSld>
  <p:transition spd="fast">
    <p:fade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Blender Python and bpy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Ask the model to target the installed Blender version.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Delete or reuse only named generated objects.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automatic overwrite or save calls.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Run in a copy and inspect the console.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Context-sensitive operators fail when the wrong mode is active.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Generated code may call deprecated properties.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Broad delete commands can destroy learner work.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50</a:t>
            </a:r>
          </a:p>
        </p:txBody>
      </p:sp>
    </p:spTree>
  </p:cSld>
  <p:transition spd="fast">
    <p:fade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Blender Python and bpy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Blender's Python API can create and edit data deterministically, but generated scripts must be scoped, readable and reversible.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script removes only objects in collection AI_GENERATED, rebuilds the blockout, names every part and prints a completion summary.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Script run success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Objects created as specified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Destructive operations reviewed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51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CONCEPT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Error-feedback iteration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Capture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Copy the full traceback and Blender version.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Classify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Syntax, missing data, context or API mismatch.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Change the smallest relevant section.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Run in a clean duplicate and compare results.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52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Error-feedback iteration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 not ask AI to rewrite everything after one error.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Provide the exact error and intended result.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the proposed fix before running.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Record successful changes.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Fixes can introduce silent geometry changes.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Partial runs may leave duplicate objects.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Copying only the last error line loses context.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Error-feedback iteration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An error message is structured evidence: capture the traceback, locate the failing line, form a hypothesis and test one repair at a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context error from bpy.ops is repaired by switching to direct data creation rather than repeatedly changing selection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Repair iterations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Regression checks passed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Duplicate object count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54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CONCEPT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Design variation and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Diverge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Generate meaningful alternatives.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Normalize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the same view, scale and lighting.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Apply weighted criteria.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Converge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Select and record the decision.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55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Design variation and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Vary one major design assumption per variant.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common camera and materials for fair comparison.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Weight functional criteria above novelty.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Preserve rejected variants with reasons.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Beauty bias overrides requirements.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Unequal renders make comparisons unfair.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Decision rationale is lost.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56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Design variation and selection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Generative breadth is valuable only when variants are compared against explicit requirements.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Three enclosures are scored on usability, manufacturability, brand fit and production cost; the winner is not simply the most visually novel.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Criteria weighted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Variant score spread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Decision record completeness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57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CONCEPT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Prompt and asset provenance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Reference owner, licence and retrieval date.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Exact request and model/tool context.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Changes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Manual fixes and derived versions.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Approval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Reviewer, date and accepted purpose.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58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Prompt and asset provenance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Store prompts beside the activity evidence.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Mark generated reference images as concept visuals.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reusable source from final derivative work.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Never assume AI output is rights-cleared.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Unknown training/source provenance.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Unlicensed reference imagery.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Missing modification history.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59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Prompt and asset provenance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production asset needs traceability across input references, prompts, generated outputs, manual edits and approvals.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The asset register links the prompt, concept image, Blender file v03, validation checklist and final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Assets with complete provenance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Approvals recorded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Unresolved rights questions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60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1 · CONCEPT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Human review and responsible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Does the model match dimensions and function?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Could geometry create hazards or misleading claims?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Are references and outputs legally usable?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Disclosure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Would a stakeholder mistake concept imagery for verified evidence?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61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Human review and responsible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Label concept visuals clearly.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Escalate safety-critical and regulated uses.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Remove sensitive information from prompts.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Require human sign-off before release.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Hallucinated mechanisms.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Confidential designs exposed to external services.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Synthetic renders misrepresented as real prototypes.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62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Human review and responsible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AI output must be reviewed for safety, bias, plausibility, intellectual property and fitness for the stated 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generated medical-device concept may support ideation but cannot be represented as engineered, tested or clinically approved.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Review gates completed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Sensitive fields removed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Disclosure present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63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1 · CONCEPT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Evidence-driven activity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What was requested.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Prompt, settings and revisions.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Screenshots and measurements.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Acceptance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Checklist and reflection.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64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1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Evidence-driven activity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Capture before/after from the same view.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Include Blender file and exported output.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Name evidence consistently.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Explain one issue and its fix.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Screenshots without context.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Final image with no editable file.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evidence that acceptance tests were run.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65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1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Evidence-driven activity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strong activity submission proves process, decision quality and acceptance—not just a final attractive screenshot.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The sample presentation shows the brief, AI contribution, Blender validation, final render and a signed acceptance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Required evidence items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Acceptance checks passed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Reflection quality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66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HANDS-ON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1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Activities 1–2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Translate a Design Requirement into an AI-Ready 3D Brief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Generate a Blender Gold-Sphere Scene with AI-Assisted 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Activities 3–4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Iterate and Repair an AI-Generated Blender Script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Develop and Select Three AI-Assisted Product Variants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Progression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Brief or inspect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Build or repair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Verify and present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67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1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Translate a Design Requirement into an AI-Ready 3D Brief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A retail innovation team needs a compact desktop product visual for stakeholder review and later prototyping.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one-page model brief, prompt specification and acceptance scorecard.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K1 · K3 · A1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Create measurable geometry, appearance and delivery criteria before using AI.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68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duct-variants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69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Purpose and audience are explicit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Dimensions and units are stated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Editable parts are named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Acceptance criteria are measurable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Delivery formats are defined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one-page model brief, prompt specification and acceptance scorecard.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70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Purpose and audience are explicit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Dimensions and units are stated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Editable parts are named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Acceptance criteria are measurable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Delivery formats are defined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Completed model brief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Prompt specification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Acceptance scorecard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One-slide decision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71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2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Generate a Blender Gold-Sphere Scene with AI-Assisted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team wants a repeatable proof-of-concept showing how natural-language intent can create named geometry and a material in Blender.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safe Blender script, a generated gold sphere scene and an execution evidence presentation.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K2 · K6 · A2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Use the video workflow to request, inspect, run and verify a small Blender Python script.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72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2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lender-first-render.png"/>
          <p:cNvPicPr>
            <a:picLocks noChangeAspect="1"/>
          </p:cNvPicPr>
          <p:nvPr/>
        </p:nvPicPr>
        <p:blipFill>
          <a:blip r:embed="rId2"/>
          <a:srcRect l="1520" r="15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73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2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Script targets the installed Blender version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automatic file overwrite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Named sphere and material exist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Scale and placement verified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Render and Blender source saved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safe Blender script, a generated gold sphere scene and an execution evidence presentation.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74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2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Script targets the installed Blender version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No automatic file overwrite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Named sphere and material exist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Scale and placement verified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Render and Blender source saved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Exact prompt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Reviewed script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Outliner screenshot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Rendered result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Completed .blend 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75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3 · FOUNDATION TO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Iterate and Repair an AI-Generated Blender Script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A generated script fails after a Blender update and leaves partial objects in the scene.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repaired rerunnable script, an error log and a before/after diagnosis.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K2 · K6 · A2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Diagnose a controlled script failure and use evidence-driven AI feedback to repair it safely.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76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3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lender-first-render.png"/>
          <p:cNvPicPr>
            <a:picLocks noChangeAspect="1"/>
          </p:cNvPicPr>
          <p:nvPr/>
        </p:nvPicPr>
        <p:blipFill>
          <a:blip r:embed="rId2"/>
          <a:srcRect l="1520" r="15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77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3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Full traceback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Root cause classified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Patch is narrowly scoped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Second run creates no duplicates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Expected geometry and modifiers verified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repaired rerunnable script, an error log and a before/after diagnosis.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78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3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Full traceback captured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Root cause classified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Patch is narrowly scoped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Second run creates no duplicates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Expected geometry and modifiers verified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Error screenshot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Root-cause statement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Before/after code excerpt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Two-run Outliner check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Final script and .blend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79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4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Develop and Select Three AI-Assisted Product Variants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Stakeholders want options for the desktop product but need a defendable recommendation, not a gallery of arbitrary shapes.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Three normalized Blender blockouts, a weighted decision matrix and a selected direction.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K1 · K3 · A1 · A5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Generate meaningful design alternatives and select one using weighted acceptance criteria.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80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4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duct-variants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81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4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Three variants differ meaningfully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Common camera and lighting used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Criteria total 100%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Scores cite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Recommendation includes trade-off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Three normalized Blender blockouts, a weighted decision matrix and a selected direction.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82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4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Three variants differ meaningfully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Common camera and lighting used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Criteria total 100%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Scores cite evidence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Recommendation includes trade-off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Nine comparable views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Weighted matrix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Sensitivity check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Recommendation and mitigation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Variant collections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83</a:t>
            </a:r>
          </a:p>
        </p:txBody>
      </p:sp>
    </p:spTree>
  </p:cSld>
  <p:transition spd="fast">
    <p:fade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YOU CAN NOW DEMONSTRATE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1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15 decision-ready frameworks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Activities 1–4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Blender files, metrics and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K1 · K2 · K3 · K6 · A1 · A2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84</a:t>
            </a:r>
          </a:p>
        </p:txBody>
      </p:sp>
    </p:spTree>
  </p:cSld>
  <p:transition spd="fast">
    <p:fade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9B8E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AI-Assisted 3D Model Analysis, Validation and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Inspection · topology · normals · retopology · UVs · materials · controlled repair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009B8E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85</a:t>
            </a:r>
          </a:p>
        </p:txBody>
      </p:sp>
    </p:spTree>
  </p:cSld>
  <p:transition spd="fast">
    <p:push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PROGRESSIVE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2 — capability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Inspection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topology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K1 · K4 · K5 · A2 · A3 · A4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Demonstrate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Activities 5–8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86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CONCEPT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Validation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Silhouette and proportions.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Topology, normals and manifold status.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Appearance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UVs, materials and shading.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Delivery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Naming, scale, format and evidence.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87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Validation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Validate from broad shape to small defects.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Measure against the brief, not memory.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blocking defects from refinements.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Record pass/fail evidence.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render can conceal bad topology.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One viewport angle can hide proportion errors.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Unwritten checks are applied inconsistently.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88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Validation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Validation checks form, structure, dimensions, appearance and delivery requirements in a repeatable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visually appealing model fails because its wall is open and its scale is 1000× too large; validation catches both before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Checks passed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Blocking defects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Review 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89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CONCEPT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Silhouette and proportion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Front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Width, symmetry and feature alignment.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Depth, taper and profile.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Footprint and spacing.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Perspective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Overall visual coherence.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90</a:t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Silhouette and proportion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Compare against calibrated references.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overlays or guides for key dimensions.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 negative space as carefully as solids.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Review at target viewing distance.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Perspective bias.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AI reference inconsistency across views.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Feature creep changes primary proportions.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91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Silhouette and proportion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The silhouette communicates primary form; orthographic views expose proportion errors that perspective views can hide.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handle reads well in perspective but blocks the opening in side view; the review prioritises functional clearance.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Dimension variance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Silhouette agreement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Clearance minimum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92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CONCEPT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Topology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Edge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Loops follow form and deformation.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Density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Resolution is allocated where curvature or silhouette needs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Higher-valence vertices are placed away from critical areas.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Quads, triangles and n-gons are used intentionally.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93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Topology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Topology is purpose-dependent.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Static hard-surface assets tolerate different flow from characters.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subdivision behaviour.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hidden internal geometry.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Random triangles cause shading noise.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Uniform high density wastes performance.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N-gons can break under deformation or triangulation.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94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Topology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Good topology supports the intended deformation, shading, editing and export while using no more geometry than necessary.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product body uses clean supporting loops at openings and low density on flat panels; a decorative triangulated insert remains separate.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Polygon count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Long-thin face ratio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Subdivision artefacts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95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CONCEPT VISUAL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Mesh quality — before and after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h-cleanup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The same conceptual object can look similar in silhouette while differing radically in topology. Validate manifold status, edge flow and shading before approval.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96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CONCEPT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Manifold and watertight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Open edges indicate holes.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Non-manifold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Edges shared by the wrong number of faces.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Faces trapped inside a volume.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Thickness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Walls must meet the target process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97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Manifold and watertight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Select Non-Manifold as a diagnostic, not an automatic cure.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Repair small gaps before remeshing.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 disconnected shells.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Recalculate volume after repair.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Automatic fill may create poor n-gons.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Overlapping shells can appear watertight.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Zero-thickness surfaces fail fabrication.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98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Manifold and watertight geometry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manifold mesh forms an unambiguous closed surface; this is critical for printing, booleans and reliable downstream 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fish-shaped container has an unintended seam along the belly; merging boundary vertices and rebuilding faces closes the volume.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Boundary edge count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Connected components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Minimum wall thickness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99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CONCEPT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Normals and face orientation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Face normals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Outward direction of polygon faces.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Vertex normals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Interpolated direction used for smooth shading.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Auto Smooth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Controls splitting at sharp angles.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Weighted normals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Biases shading toward larger faces.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100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Normals and face orientation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Enable Face Orientation to spot flipped faces.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Recalculate outside only after topology is valid.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Mark sharp edges deliberately.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in the target renderer.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Negative scale flips orientation.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Duplicate faces create z-fighting.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Custom normals can hide structural problems.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101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Normals and face orientation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Normals define the direction surfaces face and influence shading, culling and export.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Red face-orientation patches reveal inverted faces near a boolean cut; correction removes black shading after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Flipped faces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Shading artefacts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Sharp-edge consistency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102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CONCEPT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Transform hygiene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Placement relative to origin.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Rotation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Orientation relative to axes.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Object multiplier over mesh coordinates.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Origin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Pivot and placement reference.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103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Transform hygiene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 dimensions before applying scale.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origin intentional.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negative scale for final delivery.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Document exceptions.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Applying rotation can affect rig or export assumptions.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Origins reset accidentally.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Mirrored negative scales cause culling problems.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104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Transform hygiene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Applied transforms make geometric operations predictable, but application must respect pivots, animation and linked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bevel width varies across two objects because one has unapplied non-uniform scale; applying scale restores consistent treatment.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Scale equals 1/1/1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Rotation convention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Origin location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105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CONCEPT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Cleanup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Diagnose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Identify cause and affected region.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Protect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Duplicate or version the source.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Merge, dissolve, rebuild or remesh deliberately.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Repeat the original failing test.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106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Cleanup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Start with duplicate vertices and internal faces.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Preserve silhouette while simplifying.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local repair before global remesh.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Compare statistics before and after.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Aggressive cleanup changes silhouette.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Dissolve can remove supporting edges.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Global operations erase UVs and material assignments.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107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Cleanup strategy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Repair the smallest root cause that restores requirements; do not destroy useful structure with indiscriminate remeshing.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dense AI mesh needs only a local opening repair and decimation of hidden detail—not a complete voxel remesh.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Defects removed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Silhouette deviation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Data preserved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108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CONCEPT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Retopology approaches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Highest control for key loops and deformation.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Shrinkwrap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Projects a clean cage onto a source.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Remesh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Fast uniform topology with less semantic control.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Decimate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Reduces faces while retaining triangulated shape.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109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Retopology approaches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Define target use before selecting a method.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Protect high-detail source.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Place loops around deformation and openings.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Bake detail when reducing density.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Retopology can erase design features.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Shrinkwrap can project through thin surfaces.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Automatic remesh may lose hard edges.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110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Retopology approaches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Retopology rebuilds surface structure for the target use; the right method balances speed, control and preservation.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static visualisation asset may use controlled decimation; an animated creature needs manual quad flow around joints.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Target polygon budget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Feature retention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Deformation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111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CONCEPT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Polygon budgets and level of detail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Silhouette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Spend polygons where the outline changes.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Support joints and bending.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Materials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Avoid geometry for detail that textures can carry.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Prepare lower-detail variants for distance.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112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Polygon budgets and level of detail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Measure triangles after triangulation.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Benchmark in the target environment.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consistent LOD naming.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invisible internal detail.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Viewport performance is not target performance.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Decimation can break UVs.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LOD transitions can pop visibly.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113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Polygon budgets and level of detail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polygon budget is a performance and delivery constraint tied to screen size, platform and use—not a universal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hero product render keeps fine geometry; a real-time background prop uses baked normals and a lower triangle count.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Triangles per LOD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Frame-time contribution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Silhouette error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114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CONCEPT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UV coordinates and seams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Cuts placed along hidden or logical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Islands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Contiguous UV regions.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Distortion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Stretching between model and map.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Packing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Efficient use of texture space.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115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UV coordinates and seams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 scale before unwrapping.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Place seams where discontinuity is acceptable.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Equalise texel density for comparable surfaces.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Leave padding for mipmaps and baking.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Overlapping islands cause unintended texture reuse.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Insufficient padding creates bleeding.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Unapplied scale distorts unwraps.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116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UV coordinates and seams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UVs map a 3D surface to 2D texture space; seams determine where the surface is cut and unfolded.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product body hides its main seam on the underside and allocates more UV area to the front control panel.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Average island stretch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Texel density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UV occupancy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117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CONCEPT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PBR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Base colour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Diffuse/reflective colour without lighting baked 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Roughness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Micro-surface spread of reflections.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Metallic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Dielectric versus conductor behaviour.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Fine directional detail without new silhouette geometry.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118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PBR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plausible parameter ranges.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 not paint shadows into base colour.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colour data and non-colour data settings correct.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under neutral lighting.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Incorrect colour space changes values.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Overstrong normal maps look embossed.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AI textures can contain lighting and perspective artefacts.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119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PBR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Physically based materials describe how light interacts with a surface through a small set of meaningful parameters.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powder-coated enclosure uses metallic 0, medium-high roughness and subtle normal detail; a metal knob uses metallic 1 with lower roughness.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Material channel completeness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Texture resolution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Neutral-light consistency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120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CONCEPT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AI-generated textures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Describe material, scale and surface condition.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Remove seams and edge discontinuity.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Derive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Create roughness/normal carefully.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Validate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Inspect repeats, scale and physical plausibility.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121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AI-generated textures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Request flat, evenly lit material references.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Remove recognisable logos or text.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separate masks for controlled variation.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Preserve provenance.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Baked highlights move with the texture.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Fake normals invert under lighting.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Hidden copyrighted marks appear in generated detail.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122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AI-generated textures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AI can accelerate texture ideation, but images must be made tileable, channel-correct, rights-aware and free of baked perspective.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generated brushed-plastic reference is cleaned into a seamless base colour, then roughness is authored from measured visual cues.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Seam visibility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Repeat frequency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Channel plausibility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123</a:t>
            </a:r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CONCEPT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Lighting as a validation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Defines form and main highlight.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Controls contrast and shadow readability.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Separates silhouette from background.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Provides consistent reflections.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124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Lighting as a validation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Validate under a neutral studio setup.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Rotate light to reveal shading artefacts.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consistent exposure across variants.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evidence renders from marketing renders.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Dramatic shadows conceal geometry defects.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Different exposure biases variant comparison.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HDRI licence or provenance is unknown.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125</a:t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Lighting as a validation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Neutral lighting reveals material and surface quality; dramatic lighting should come after defects are understood.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grazing key light exposes pinching around a boolean that was invisible under flat viewport shading.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Exposure consistency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Artefacts discovered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Variant lighting parity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126</a:t>
            </a:r>
          </a:p>
        </p:txBody>
      </p:sp>
    </p:spTree>
  </p:cSld>
  <p:transition spd="fast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2 · CONCEPT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Change control and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Freeze the incoming AI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Name the repair and reason.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Compare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consistent views and metrics.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Approve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Record reviewer and acceptance.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127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Change control and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incremental filenames.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overwriting the raw source.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a change log.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Recheck downstream effects.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Silent overwrite removes evidence.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topology fix can break UVs.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Late changes bypass acceptance tests.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128</a:t>
            </a:r>
          </a:p>
        </p:txBody>
      </p:sp>
    </p:spTree>
  </p:cSld>
  <p:transition spd="fast">
    <p:fade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Change control and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Every major repair should be reviewable against the previous version and the design brief.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v01 raw → v02 manifold repair → v03 retopology → v04 UV/material; each version records changed statistics.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Versions traceable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Regression checks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Approval 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129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2 · CONCEPT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Quality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Dimensions, manifold, normals and polygon 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Appearance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UV stretch, materials and render consistency.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Naming, format and round-trip test.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Open issues, owner and disposition.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130</a:t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Quality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thresholds tied to the brief.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Show current value and status.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Link evidence to each result.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Never hide a failed check in an average score.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Vanity scores obscure blockers.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Thresholds without rationale are arbitrary.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Evidence links point to stale versions.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131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2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Quality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concise dashboard turns technical checks into an approval decision stakeholders can understand.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The dashboard marks 11/12 checks passed and leaves 'minimum wall thickness' amber pending a print-process decision.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Pass rate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Blocking issues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Evidence freshness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132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HANDS-ON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2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Activities 5–6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Inspect an AI-Generated Mesh and Build a Validation Baseline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Repair Non-Manifold Geometry, Normals and Duplicate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Activities 7–8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Retopologize and Optimize an AI Mesh for Its Target Use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UV-Unwrap and Apply AI-Assisted PBR Materials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Progression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Brief or inspect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Build or repair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Verify and present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133</a:t>
            </a:r>
          </a:p>
        </p:txBody>
      </p:sp>
    </p:spTree>
  </p:cSld>
  <p:transition spd="fast">
    <p:fade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5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Inspect an AI-Generated Mesh and Build a Validation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An external AI mesh arrives with no quality record and must be assessed before refinement.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frozen baseline Blender file, defect register and validation dashboard.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K4 · K5 · 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Measure geometry, transforms, topology and evidence before making repairs.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134</a:t>
            </a:r>
          </a:p>
        </p:txBody>
      </p:sp>
    </p:spTree>
  </p:cSld>
  <p:transition spd="fast">
    <p:fade/>
  </p:transition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5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h-cleanup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135</a:t>
            </a:r>
          </a:p>
        </p:txBody>
      </p:sp>
    </p:spTree>
  </p:cSld>
  <p:transition spd="fast">
    <p:fade/>
  </p:transition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5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Baseline preserved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Units and transforms recorded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Topology statistics captured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Non-manifold and normals checks completed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Findings have severity and evidence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frozen baseline Blender file, defect register and validation dashboard.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136</a:t>
            </a:r>
          </a:p>
        </p:txBody>
      </p:sp>
    </p:spTree>
  </p:cSld>
  <p:transition spd="fast">
    <p:fade/>
  </p:transition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5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Baseline preserved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Units and transforms recorded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Topology statistics captured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Non-manifold and normals checks completed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Findings have severity and 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Baseline metadata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Statistics screenshot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Face Orientation view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Non-manifold selection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Defect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137</a:t>
            </a:r>
          </a:p>
        </p:txBody>
      </p:sp>
    </p:spTree>
  </p:cSld>
  <p:transition spd="fast">
    <p:fade/>
  </p:transition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6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Repair Non-Manifold Geometry, Normals and Duplicate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inspected model has a belly seam, flipped faces and doubled vertices that cause shading and export defects.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repaired manifold model with before/after evidence and regression results.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K4 · A2 · 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Apply local, reversible repairs and prove that the original failing checks now pass.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138</a:t>
            </a:r>
          </a:p>
        </p:txBody>
      </p:sp>
    </p:spTree>
  </p:cSld>
  <p:transition spd="fast">
    <p:fade/>
  </p:transition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6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h-cleanup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139</a:t>
            </a:r>
          </a:p>
        </p:txBody>
      </p:sp>
    </p:spTree>
  </p:cSld>
  <p:transition spd="fast">
    <p:fade/>
  </p:transition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6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Baseline remains unchanged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Merge threshold documented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Boundary repaired locally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Normals face outward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Regression checks pass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repaired manifold model with before/after evidence and regression results.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140</a:t>
            </a:r>
          </a:p>
        </p:txBody>
      </p:sp>
    </p:spTree>
  </p:cSld>
  <p:transition spd="fast">
    <p:fade/>
  </p:transition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6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Baseline remains unchanged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Merge threshold documented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Boundary repaired locally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Normals face outward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Regression checks pass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Before/after Face Orientation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Merged-vertex count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Repaired boundary close-up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Regression table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Versioned Blender 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141</a:t>
            </a:r>
          </a:p>
        </p:txBody>
      </p:sp>
    </p:spTree>
  </p:cSld>
  <p:transition spd="fast">
    <p:fade/>
  </p:transition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7 · INTERMEDIATE TO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Retopologize and Optimize an AI Mesh for Its Target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A dense generated mesh must become a responsive real-time asset without losing its recognizable silhouette.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target-use retopology, statistics comparison and feature-retention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K2 · K4 · A3 · A4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Select a retopology approach, meet a polygon budget and preserve critical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142</a:t>
            </a:r>
          </a:p>
        </p:txBody>
      </p:sp>
    </p:spTree>
  </p:cSld>
  <p:transition spd="fast">
    <p:fade/>
  </p:transition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7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h-cleanup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143</a:t>
            </a:r>
          </a:p>
        </p:txBody>
      </p:sp>
    </p:spTree>
  </p:cSld>
  <p:transition spd="fast">
    <p:fade/>
  </p:transition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7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Target use and budget stated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Method justified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Silhouette retained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Topology checks pass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Reduction metrics recorded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target-use retopology, statistics comparison and feature-retention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144</a:t>
            </a:r>
          </a:p>
        </p:txBody>
      </p:sp>
    </p:spTree>
  </p:cSld>
  <p:transition spd="fast">
    <p:fade/>
  </p:transition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7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Target use and budget stated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Method justified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Silhouette retained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Topology checks pass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Reduction metrics recorded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High/low overlay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Wireframe comparison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Statistics table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Triangulated preview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Limitations note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145</a:t>
            </a:r>
          </a:p>
        </p:txBody>
      </p:sp>
    </p:spTree>
  </p:cSld>
  <p:transition spd="fast">
    <p:fade/>
  </p:transition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8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UV-Unwrap and Apply AI-Assisted PBR Materials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optimized asset needs a consistent product finish and texture set suitable for review and export.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UV-mapped Blender asset, validated material channels and texture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K2 · K5 · A3 · A4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Create usable UVs and physically plausible materials from AI-assisted references.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146</a:t>
            </a:r>
          </a:p>
        </p:txBody>
      </p:sp>
    </p:spTree>
  </p:cSld>
  <p:transition spd="fast">
    <p:fade/>
  </p:transition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8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sh-texture.png"/>
          <p:cNvPicPr>
            <a:picLocks noChangeAspect="1"/>
          </p:cNvPicPr>
          <p:nvPr/>
        </p:nvPicPr>
        <p:blipFill>
          <a:blip r:embed="rId2"/>
          <a:srcRect t="20993" b="20993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147</a:t>
            </a:r>
          </a:p>
        </p:txBody>
      </p:sp>
    </p:spTree>
  </p:cSld>
  <p:transition spd="fast">
    <p:fade/>
  </p:transition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8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Seams follow logical boundaries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Checker shows acceptable distortion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Texel density is consistent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Colour spaces are correct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Texture provenance recorded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UV-mapped Blender asset, validated material channels and texture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148</a:t>
            </a:r>
          </a:p>
        </p:txBody>
      </p:sp>
    </p:spTree>
  </p:cSld>
  <p:transition spd="fast">
    <p:fade/>
  </p:transition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8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Seams follow logical boundaries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Checker shows acceptable distortion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Texel density is consistent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Colour spaces are correct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Texture provenance recorded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UV layout screenshot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Checker test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Shader graph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Neutral-light material render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Texture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149</a:t>
            </a:r>
          </a:p>
        </p:txBody>
      </p:sp>
    </p:spTree>
  </p:cSld>
  <p:transition spd="fast">
    <p:fade/>
  </p:transition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WHAT YOU CAN NOW DEMONSTRATE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2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15 decision-ready frameworks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Activities 5–8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Blender files, metrics and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K1 · K4 · K5 · A2 · A3 · A4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150</a:t>
            </a:r>
          </a:p>
        </p:txBody>
      </p:sp>
    </p:spTree>
  </p:cSld>
  <p:transition spd="fast">
    <p:fade/>
  </p:transition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04CD9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3D Model Optimization, Standards and Production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Standards · rendering · export · interoperability · documentation · capstone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704CD9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151</a:t>
            </a:r>
          </a:p>
        </p:txBody>
      </p:sp>
    </p:spTree>
  </p:cSld>
  <p:transition spd="fast">
    <p:push/>
  </p:transition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PROGRESSIVE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3 — capability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rendering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K3 · K4 · K5 · K6 · A3 · A5 · A6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Demonstrate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Activities 9–12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152</a:t>
            </a:r>
          </a:p>
        </p:txBody>
      </p:sp>
    </p:spTree>
  </p:cSld>
  <p:transition spd="fast">
    <p:fade/>
  </p:transition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CONCEPT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Target-use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Real-time triangle, texture and draw-call budgets.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Printing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Watertight volume, wall thickness and physical scale.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Animation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Deformation topology, pivots and naming.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Visualisation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High-quality shading, camera and colour management.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153</a:t>
            </a:r>
          </a:p>
        </p:txBody>
      </p:sp>
    </p:spTree>
  </p:cSld>
  <p:transition spd="fast">
    <p:fade/>
  </p:transition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Target-use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the target before optimisation.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Create delivery variants from a controlled master.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 not assume one export satisfies every use.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in the destination.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Optimising for one target damages another.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beautiful render model may not be printable.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Format conversion loses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154</a:t>
            </a:r>
          </a:p>
        </p:txBody>
      </p:sp>
    </p:spTree>
  </p:cSld>
  <p:transition spd="fast">
    <p:fade/>
  </p:transition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Target-use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The same source model needs different preparation for games, 3D printing, animation and visualisation.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The approved master produces glTF for web, STL for print validation and a high-resolution Blender render file.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Target requirements met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Variants delivered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Round-trip tests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155</a:t>
            </a:r>
          </a:p>
        </p:txBody>
      </p:sp>
    </p:spTree>
  </p:cSld>
  <p:transition spd="fast">
    <p:fade/>
  </p:transition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CONCEPT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Technical conventions for 3D assets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Role-based object and material names.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Declared measurement system and scale.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Orientation and forward/up convention.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Hierarchy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Parenting and collection structure.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</p:spTree>
  </p:cSld>
  <p:transition spd="fast">
    <p:fade/>
  </p:transition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Technical conventions for 3D assets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Publish a project convention sheet.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Validate naming automatically where possible.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origin and pivot rules by asset type.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Record coordinate conversion.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Generic names break automation.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Mixed units produce assembly failure.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Unexpected hierarchy changes motion.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157</a:t>
            </a:r>
          </a:p>
        </p:txBody>
      </p:sp>
    </p:spTree>
  </p:cSld>
  <p:transition spd="fast">
    <p:fade/>
  </p:transition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Technical conventions for 3D assets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Consistent naming, units, axes, origins, hierarchy and metadata act as the conventions that make digital models understandable across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PRD_Speaker_BODY, PRD_Speaker_KNOB and MAT_Plastic_White follow a shared convention and export consistently.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Naming compliance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Unit declaration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Hierarchy errors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158</a:t>
            </a:r>
          </a:p>
        </p:txBody>
      </p:sp>
    </p:spTree>
  </p:cSld>
  <p:transition spd="fast">
    <p:fade/>
  </p:transition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CONCEPT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Dimension and tolerance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Nominal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Target size from the brief.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Actual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Measured Blender dimension.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Tolerance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Permissible variation.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Clearance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Required gap between parts.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159</a:t>
            </a:r>
          </a:p>
        </p:txBody>
      </p:sp>
    </p:spTree>
  </p:cSld>
  <p:transition spd="fast">
    <p:fade/>
  </p:transition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Dimension and tolerance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Measure critical-to-function features first.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State whether modifiers affect measured output.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appropriate precision.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Flag assumptions not supported by source data.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Viewport grids are not measurements.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Unapplied scale misleads dimension readouts.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False precision suggests unsupported accuracy.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160</a:t>
            </a:r>
          </a:p>
        </p:txBody>
      </p:sp>
    </p:spTree>
  </p:cSld>
  <p:transition spd="fast">
    <p:fade/>
  </p:transition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Dimension and tolerance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Visual models become accountable design artefacts when key dimensions, clearances and tolerances are measured and documented.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knob diameter is 32.0 mm ±0.5 mm and its body clearance is at least 1.0 mm after applied modifiers.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Critical dimensions within tolerance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Clearance minimum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Assumptions open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161</a:t>
            </a:r>
          </a:p>
        </p:txBody>
      </p:sp>
    </p:spTree>
  </p:cSld>
  <p:transition spd="fast">
    <p:fade/>
  </p:transition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CONCEPT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Render engines and delivery intent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Workbench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Fast topology and form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Eevee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Real-time look development and previews.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Path-traced lighting and material realism.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Viewport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Immediate inspection, not final evidence by default.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162</a:t>
            </a:r>
          </a:p>
        </p:txBody>
      </p:sp>
    </p:spTree>
  </p:cSld>
  <p:transition spd="fast">
    <p:fade/>
  </p:transition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Render engines and delivery intent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Match engine to decision purpose.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Workbench overlays for mesh evidence.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Control samples and denoising.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Record engine and colour settings.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Engine differences change material appearance.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Denoising can smear detail.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Uncontrolled colour management changes approval renders.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163</a:t>
            </a:r>
          </a:p>
        </p:txBody>
      </p:sp>
    </p:spTree>
  </p:cSld>
  <p:transition spd="fast">
    <p:fade/>
  </p:transition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Render engines and delivery intent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Choose Eevee for speed and interactive review, Cycles for physically richer final rendering, and Workbench for structural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topology review uses Workbench wireframe; the design review uses Eevee; the final marketing still uses Cycles.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Render time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Noise level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Settings recorded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164</a:t>
            </a:r>
          </a:p>
        </p:txBody>
      </p:sp>
    </p:spTree>
  </p:cSld>
  <p:transition spd="fast">
    <p:fade/>
  </p:transition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CONCEPT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Camera and composition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Focal length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Controls perspective compression.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Framing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Shows whole form with intentional margins.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Angle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Reveals relevant features.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Consistency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Locks comparison across variants.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165</a:t>
            </a:r>
          </a:p>
        </p:txBody>
      </p:sp>
    </p:spTree>
  </p:cSld>
  <p:transition spd="fast">
    <p:fade/>
  </p:transition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Camera and composition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orthographic views for dimensions.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moderate focal lengths for product perspective.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Lock camera after approval.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Render required evidence views systematically.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Wide-angle distortion exaggerates form.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Auto framing changes comparison.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Important features are occluded.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166</a:t>
            </a:r>
          </a:p>
        </p:txBody>
      </p:sp>
    </p:spTree>
  </p:cSld>
  <p:transition spd="fast">
    <p:fade/>
  </p:transition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Camera and composition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consistent camera turns renders into comparable evidence and communicates scale, function and hierarchy.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70 mm three-quarter camera is duplicated across variants so differences come from design, not perspective.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Required views complete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Camera parity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Margin consistency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167</a:t>
            </a:r>
          </a:p>
        </p:txBody>
      </p:sp>
    </p:spTree>
  </p:cSld>
  <p:transition spd="fast">
    <p:fade/>
  </p:transition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CONCEPT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Colour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Exposure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Overall scene brightness.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View 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Maps dynamic range to display.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Optional contrast treatment.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Colour space and file format.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168</a:t>
            </a:r>
          </a:p>
        </p:txBody>
      </p:sp>
    </p:spTree>
  </p:cSld>
  <p:transition spd="fast">
    <p:fade/>
  </p:transition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Colour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Lock settings before variant comparison.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editing material values to compensate for exposure.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lossless output for evidence masters.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Document display limitations.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Different displays still vary.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Embedded profiles may be stripped.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Clipping hides material differences.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169</a:t>
            </a:r>
          </a:p>
        </p:txBody>
      </p:sp>
    </p:spTree>
  </p:cSld>
  <p:transition spd="fast">
    <p:fade/>
  </p:transition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Colour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Colour management maps scene-linear values to the display; consistent settings are essential for fair review and predictable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All approval renders use the same AgX-based view settings, exposure and studio lights.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Exposure locked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Output profile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Clipped pixels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170</a:t>
            </a:r>
          </a:p>
        </p:txBody>
      </p:sp>
    </p:spTree>
  </p:cSld>
  <p:transition spd="fast">
    <p:fade/>
  </p:transition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CONCEPT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Export formats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glTF/GLB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Efficient real-time delivery with PBR materials.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FBX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Broad DCC/engine interchange, but settings vary.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OBJ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Simple geometry and UV interchange.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Triangle surface for printing; little scene metadata.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171</a:t>
            </a:r>
          </a:p>
        </p:txBody>
      </p:sp>
    </p:spTree>
  </p:cSld>
  <p:transition spd="fast">
    <p:fade/>
  </p:transition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Export formats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Choose by required data, not familiarity.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 target axis and scale settings.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Embed or package textures deliberately.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Re-import to verify.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Materials are lost or remapped.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Scale changes silently.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Modifiers or instances export unexpectedly.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172</a:t>
            </a:r>
          </a:p>
        </p:txBody>
      </p:sp>
    </p:spTree>
  </p:cSld>
  <p:transition spd="fast">
    <p:fade/>
  </p:transition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Export formats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File formats preserve different subsets of geometry, materials, hierarchy, animation and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web asset ships as GLB with packed PBR textures; a print test ships as millimetre-scale STL after manifold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Round-trip pass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File size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Required data retained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173</a:t>
            </a:r>
          </a:p>
        </p:txBody>
      </p:sp>
    </p:spTree>
  </p:cSld>
  <p:transition spd="fast">
    <p:fade/>
  </p:transition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CONCEPT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Game-ready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Triangle count and LODs.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Materials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Minimise slots and draw calls.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Textures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Resolution, compression and atlasing.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Collision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Simple collision representation.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174</a:t>
            </a:r>
          </a:p>
        </p:txBody>
      </p:sp>
    </p:spTree>
  </p:cSld>
  <p:transition spd="fast">
    <p:fade/>
  </p:transition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Game-ready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Triangulate predictably before final check.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Bake high-detail normals onto low geometry.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consistent texel density.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inside the target engine.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Hidden geometry wastes budget.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Too many material slots increase draw calls.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Normal-map seams appear after triangulation.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175</a:t>
            </a:r>
          </a:p>
        </p:txBody>
      </p:sp>
    </p:spTree>
  </p:cSld>
  <p:transition spd="fast">
    <p:fade/>
  </p:transition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Game-ready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Real-time assets balance silhouette, shading, textures and draw calls against a defined platform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The hero asset uses one 2K texture set and three LODs; a simple convex collision mesh is delivered separately.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Triangles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Draw calls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Texture memory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176</a:t>
            </a:r>
          </a:p>
        </p:txBody>
      </p:sp>
    </p:spTree>
  </p:cSld>
  <p:transition spd="fast">
    <p:fade/>
  </p:transition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CONCEPT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3D-print preparation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Closed and manifold.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Thickness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Meets process/material limits.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Overhang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Compatible with orientation and supports.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Allows fit after process variation.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177</a:t>
            </a:r>
          </a:p>
        </p:txBody>
      </p:sp>
    </p:spTree>
  </p:cSld>
  <p:transition spd="fast">
    <p:fade/>
  </p:transition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3D-print preparation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Set units to millimetres deliberately.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Check thin walls and disconnected shells.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Orient to reduce support and weak layers.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a slicer as a second validation environment.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Surface-only models produce no solid.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Tiny gaps create slicing artefacts.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Tight clearances fuse moving parts.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178</a:t>
            </a:r>
          </a:p>
        </p:txBody>
      </p:sp>
    </p:spTree>
  </p:cSld>
  <p:transition spd="fast">
    <p:fade/>
  </p:transition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3D-print preparation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Print preparation turns a visible surface into a manufacturable volume with scale, thickness, orientation and support considerations.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hollow product shell gains 2.0 mm wall thickness, drain holes and a flat print orientation before STL export.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Wall thickness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Estimated support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Slicer warnings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179</a:t>
            </a:r>
          </a:p>
        </p:txBody>
      </p:sp>
    </p:spTree>
  </p:cSld>
  <p:transition spd="fast">
    <p:fade/>
  </p:transition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CONCEPT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Animation-ready organization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Pivots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Rotate around meaningful mechanical centres.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Hierarchy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Parent-child motion relationships.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Topology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Supports deformation where needed.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Naming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Enables rigging and export automation.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180</a:t>
            </a:r>
          </a:p>
        </p:txBody>
      </p:sp>
    </p:spTree>
  </p:cSld>
  <p:transition spd="fast">
    <p:fade/>
  </p:transition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Animation-ready organization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Test one representative motion.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Apply scale before rigging where appropriate.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Keep moving parts separate.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Avoid modifiers unsupported by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pivot makes motion orbit.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Applied transforms after rigging can break animation.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Merged moving parts cannot be controlled independently.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181</a:t>
            </a:r>
          </a:p>
        </p:txBody>
      </p:sp>
    </p:spTree>
  </p:cSld>
  <p:transition spd="fast">
    <p:fade/>
  </p:transition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Animation-ready organization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Animation depends on predictable pivots, transforms, topology, hierarchy and deformation—not merely a visually complete mesh.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control knob remains a separate object with its origin on the rotational axis and a clear parent relationship.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Motion test passed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Pivot alignment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Hierarchy compliance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182</a:t>
            </a:r>
          </a:p>
        </p:txBody>
      </p:sp>
    </p:spTree>
  </p:cSld>
  <p:transition spd="fast">
    <p:fade/>
  </p:transition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CONCEPT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Documentation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Clean Blender master with organised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Exports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Target-specific files and textures.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Consistent renders or turntable.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Record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Brief, changes, checks and known limitations.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183</a:t>
            </a:r>
          </a:p>
        </p:txBody>
      </p:sp>
    </p:spTree>
  </p:cSld>
  <p:transition spd="fast">
    <p:fade/>
  </p:transition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Documentation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a predictable folder structure.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Include version and date.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final from working files.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State open risks explicitly.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Missing texture dependencies.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Final files mixed with drafts.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note on target version or units.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184</a:t>
            </a:r>
          </a:p>
        </p:txBody>
      </p:sp>
    </p:spTree>
  </p:cSld>
  <p:transition spd="fast">
    <p:fade/>
  </p:transition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Documentation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production-ready handoff includes the editable source, exports, previews, specifications, provenance and validation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The handoff contains SOURCE, EXPORT, TEXTURES, PREVIEW and EVIDENCE folders plus a readme and acceptance checklist.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Package completeness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Broken links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Open limitations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185</a:t>
            </a:r>
          </a:p>
        </p:txBody>
      </p:sp>
    </p:spTree>
  </p:cSld>
  <p:transition spd="fast">
    <p:fade/>
  </p:transition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CONCEPT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Automated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Machine-checkable requirements.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Object-level findings with severity.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Optional and narrowly scoped.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Human confirmation of geometry and intent.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186</a:t>
            </a:r>
          </a:p>
        </p:txBody>
      </p:sp>
    </p:spTree>
  </p:cSld>
  <p:transition spd="fast">
    <p:fade/>
  </p:transition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Automated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Run checks without silent mutation.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Show exactly what failed.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Allow thresholds to be configured.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Version the report with the asset.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False confidence from incomplete checks.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Auto-fixes can damage valid exceptions.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Tool version changes break scripts.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187</a:t>
            </a:r>
          </a:p>
        </p:txBody>
      </p:sp>
    </p:spTree>
  </p:cSld>
  <p:transition spd="fast">
    <p:fade/>
  </p:transition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Automated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Small scripts can standardise repetitive checks such as naming, transforms, dimensions and object counts, while human review remains essential.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validation script reports unnamed objects, non-unit scale and missing UV maps; it does not automatically modify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Rules passed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False positives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Checks with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188</a:t>
            </a:r>
          </a:p>
        </p:txBody>
      </p:sp>
    </p:spTree>
  </p:cSld>
  <p:transition spd="fast">
    <p:fade/>
  </p:transition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CONCEPT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Stakeholder design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Problem and intended 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Comparable design variants.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Metrics and validation views.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Recommendation, trade-offs and next actions.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189</a:t>
            </a:r>
          </a:p>
        </p:txBody>
      </p:sp>
    </p:spTree>
  </p:cSld>
  <p:transition spd="fast">
    <p:fade/>
  </p:transition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Stakeholder design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Lead with the decision required.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Show comparable views.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Distinguish concept from verified evidence.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Make unresolved risks visible.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Beautiful renders crowd out technical evidence.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Unweighted criteria obscure trade-offs.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Stakeholders cannot trace the approved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190</a:t>
            </a:r>
          </a:p>
        </p:txBody>
      </p:sp>
    </p:spTree>
  </p:cSld>
  <p:transition spd="fast">
    <p:fade/>
  </p:transition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Stakeholder design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 review presentation should connect requirements, options, evidence, risks and recommendation in a decision-ready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The review recommends Variant B because it passes all functional criteria with a modest polygon increase and lower manufacturing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Decision captured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Evidence linked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Actions assigned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191</a:t>
            </a:r>
          </a:p>
        </p:txBody>
      </p:sp>
    </p:spTree>
  </p:cSld>
  <p:transition spd="fast">
    <p:fade/>
  </p:transition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TOPIC 3 · CONCEPT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Organisational alignment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User needs and accessibility.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Brand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Form language and visual consistency.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Operations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Tools, skills and production constraints.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Lifecycle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Reuse, maintenance and future variants.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192</a:t>
            </a:r>
          </a:p>
        </p:txBody>
      </p:sp>
    </p:spTree>
  </p:cSld>
  <p:transition spd="fast">
    <p:fade/>
  </p:transition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Organisational alignment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Evaluate business fit alongside technical quality.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Prefer reusable modular structures.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Capture ownership and maintenance.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Reject novelty that increases risk without value.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technically perfect asset may not fit the brand.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Vendor-specific features reduce portability.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No owner exists for future updates.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193</a:t>
            </a:r>
          </a:p>
        </p:txBody>
      </p:sp>
    </p:spTree>
  </p:cSld>
  <p:transition spd="fast">
    <p:fade/>
  </p:transition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Organisational alignment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An asset succeeds when it supports the organisation's audience, brand, production capacity, budget, risk appetite and reuse strategy.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A modular product model enables colour variants without duplicating geometry, reducing future campaign effort.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Reuse potential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Production effort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Strategic-fit score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194</a:t>
            </a:r>
          </a:p>
        </p:txBody>
      </p:sp>
    </p:spTree>
  </p:cSld>
  <p:transition spd="fast">
    <p:fade/>
  </p:transition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TOPIC 3 · CONCEPT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Final acceptance and release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Run the full checklist on the release candidate.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Record competent reviewer sign-off.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Package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Freeze source, exports and evidence.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Archive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Retain prior versions and provenance.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195</a:t>
            </a:r>
          </a:p>
        </p:txBody>
      </p:sp>
    </p:spTree>
  </p:cSld>
  <p:transition spd="fast">
    <p:fade/>
  </p:transition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29F05"/>
                </a:solidFill>
                <a:latin typeface="Arial"/>
              </a:rPr>
              <a:t>TOPIC 3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Decisions and risks — Final acceptance and release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532180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DECISIONS THAT IMPROVE QUALITY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724912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Never approve a moving target.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3383280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Re-run checks after the last change.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4041648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Use checksums or immutable version labels.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4700016"/>
            <a:ext cx="210312" cy="2103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4663440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Separate answer keys and trainer-only material from learner publication.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1783080"/>
            <a:ext cx="5321808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783080"/>
            <a:ext cx="5321808" cy="109728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48256"/>
            <a:ext cx="46634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E85D5D"/>
                </a:solidFill>
                <a:latin typeface="Arial"/>
              </a:rPr>
              <a:t>FAILURE MODES TO CONTROL</a:t>
            </a:r>
          </a:p>
        </p:txBody>
      </p:sp>
      <p:sp>
        <p:nvSpPr>
          <p:cNvPr id="20" name="Oval 19"/>
          <p:cNvSpPr/>
          <p:nvPr/>
        </p:nvSpPr>
        <p:spPr>
          <a:xfrm>
            <a:off x="6473952" y="2724912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03136" y="2688336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Last-minute edits bypass checks.</a:t>
            </a:r>
          </a:p>
        </p:txBody>
      </p:sp>
      <p:sp>
        <p:nvSpPr>
          <p:cNvPr id="22" name="Oval 21"/>
          <p:cNvSpPr/>
          <p:nvPr/>
        </p:nvSpPr>
        <p:spPr>
          <a:xfrm>
            <a:off x="6473952" y="3383280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46704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Wrong file is linked to the LMS.</a:t>
            </a:r>
          </a:p>
        </p:txBody>
      </p:sp>
      <p:sp>
        <p:nvSpPr>
          <p:cNvPr id="24" name="Oval 23"/>
          <p:cNvSpPr/>
          <p:nvPr/>
        </p:nvSpPr>
        <p:spPr>
          <a:xfrm>
            <a:off x="6473952" y="4041648"/>
            <a:ext cx="210312" cy="210312"/>
          </a:xfrm>
          <a:prstGeom prst="ellipse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4005072"/>
            <a:ext cx="43434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Confidential assessment keys become public.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196</a:t>
            </a:r>
          </a:p>
        </p:txBody>
      </p:sp>
    </p:spTree>
  </p:cSld>
  <p:transition spd="fast">
    <p:fade/>
  </p:transition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TOPIC 3 · APPLIED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Final acceptance and release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6537960" cy="4251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PRINCIPLE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487168"/>
            <a:ext cx="5989320" cy="9875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82230"/>
                </a:solidFill>
                <a:latin typeface="Arial"/>
              </a:rPr>
              <a:t>Release is a controlled decision based on complete evidence, resolved blockers and explicit acceptance of any remaining limitations.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730752"/>
            <a:ext cx="598932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APPLIED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133087"/>
            <a:ext cx="5989320" cy="1417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D6878"/>
                </a:solidFill>
                <a:latin typeface="Arial"/>
              </a:rPr>
              <a:t>v08 is frozen after round-trip export, render, scale and topology checks; the handoff is signed and v07 archived.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0648" y="1783080"/>
            <a:ext cx="4014215" cy="425196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2066543"/>
            <a:ext cx="3429000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EVIDENCE TO TRACK</a:t>
            </a:r>
          </a:p>
        </p:txBody>
      </p:sp>
      <p:sp>
        <p:nvSpPr>
          <p:cNvPr id="13" name="Oval 12"/>
          <p:cNvSpPr/>
          <p:nvPr/>
        </p:nvSpPr>
        <p:spPr>
          <a:xfrm>
            <a:off x="7790688" y="2743200"/>
            <a:ext cx="402336" cy="40233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90688" y="2743200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724912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Release checks passed</a:t>
            </a:r>
          </a:p>
        </p:txBody>
      </p:sp>
      <p:sp>
        <p:nvSpPr>
          <p:cNvPr id="16" name="Oval 15"/>
          <p:cNvSpPr/>
          <p:nvPr/>
        </p:nvSpPr>
        <p:spPr>
          <a:xfrm>
            <a:off x="7790688" y="3584448"/>
            <a:ext cx="402336" cy="402336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90688" y="3584448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566160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Approvals</a:t>
            </a:r>
          </a:p>
        </p:txBody>
      </p:sp>
      <p:sp>
        <p:nvSpPr>
          <p:cNvPr id="19" name="Oval 18"/>
          <p:cNvSpPr/>
          <p:nvPr/>
        </p:nvSpPr>
        <p:spPr>
          <a:xfrm>
            <a:off x="7790688" y="4425696"/>
            <a:ext cx="402336" cy="402336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90688" y="4425696"/>
            <a:ext cx="402336" cy="40233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407408"/>
            <a:ext cx="269748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Artifact checksum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197</a:t>
            </a:r>
          </a:p>
        </p:txBody>
      </p:sp>
    </p:spTree>
  </p:cSld>
  <p:transition spd="fast">
    <p:fade/>
  </p:transition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HANDS-ON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3 activities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Activities 9–10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Create a Neutral Studio Render and Visual QA Set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Prepare and Verify a Game/Visualization Export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Activities 11–12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Prepare and Verify a 3D-Printable STL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Capstone: Deliver an AI-Assisted 3D Asset Review Package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Progression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Brief or inspect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Build or repair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Verify and present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198</a:t>
            </a:r>
          </a:p>
        </p:txBody>
      </p:sp>
    </p:spTree>
  </p:cSld>
  <p:transition spd="fast">
    <p:fade/>
  </p:transition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9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Create a Neutral Studio Render and Visual QA 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design team needs evidence renders that reveal form and surface quality rather than hiding defects with dramatic lighting.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four-view neutral render set and a documented render configuration.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K3 · K5 · 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Use consistent cameras, lighting and colour settings to create comparable validation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199</a:t>
            </a:r>
          </a:p>
        </p:txBody>
      </p:sp>
    </p:spTree>
  </p:cSld>
  <p:transition spd="fast">
    <p:fade/>
  </p:transition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9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lender-fish-render.png"/>
          <p:cNvPicPr>
            <a:picLocks noChangeAspect="1"/>
          </p:cNvPicPr>
          <p:nvPr/>
        </p:nvPicPr>
        <p:blipFill>
          <a:blip r:embed="rId2"/>
          <a:srcRect l="1520" r="15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200</a:t>
            </a:r>
          </a:p>
        </p:txBody>
      </p:sp>
    </p:spTree>
  </p:cSld>
  <p:transition spd="fast">
    <p:fade/>
  </p:transition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9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Four required views complete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Camera and exposure consistent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Neutral lighting reveals form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Render settings recorded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Blocking artefacts resolved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four-view neutral render set and a documented render configuration.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201</a:t>
            </a:r>
          </a:p>
        </p:txBody>
      </p:sp>
    </p:spTree>
  </p:cSld>
  <p:transition spd="fast">
    <p:fade/>
  </p:transition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9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Four required views complete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Camera and exposure consistent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Neutral lighting reveals form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Render settings recorded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Blocking artefacts resolved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Camera setup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Lighting diagram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Four-view render set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Settings table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Surface QA note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202</a:t>
            </a:r>
          </a:p>
        </p:txBody>
      </p:sp>
    </p:spTree>
  </p:cSld>
  <p:transition spd="fast">
    <p:fade/>
  </p:transition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10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Prepare and Verify a Game/Visualization Export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A client needs a GLB asset for a web product viewer with predictable scale, materials and performance.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validated GLB export, round-trip Blender check and delivery record.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K3 · K4 · K6 · A4 · A6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Package a model for real-time delivery and verify it through round-trip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203</a:t>
            </a:r>
          </a:p>
        </p:txBody>
      </p:sp>
    </p:spTree>
  </p:cSld>
  <p:transition spd="fast">
    <p:fade/>
  </p:transition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10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sh-bowl.jpg"/>
          <p:cNvPicPr>
            <a:picLocks noChangeAspect="1"/>
          </p:cNvPicPr>
          <p:nvPr/>
        </p:nvPicPr>
        <p:blipFill>
          <a:blip r:embed="rId2"/>
          <a:srcRect t="6490" b="649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204</a:t>
            </a:r>
          </a:p>
        </p:txBody>
      </p:sp>
    </p:spTree>
  </p:cSld>
  <p:transition spd="fast">
    <p:fade/>
  </p:transition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10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Target requirements stated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Only approved objects exported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Scale and axes correct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Materials survive round trip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Triangle budget met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validated GLB export, round-trip Blender check and delivery record.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205</a:t>
            </a:r>
          </a:p>
        </p:txBody>
      </p:sp>
    </p:spTree>
  </p:cSld>
  <p:transition spd="fast">
    <p:fade/>
  </p:transition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10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Target requirements stated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Only approved objects exported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Scale and axes correct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Materials survive round trip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Triangle budget met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Export settings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Final statistics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Source/import comparison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Target-viewer screenshot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Delivery package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206</a:t>
            </a:r>
          </a:p>
        </p:txBody>
      </p:sp>
    </p:spTree>
  </p:cSld>
  <p:transition spd="fast">
    <p:fade/>
  </p:transition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11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Prepare and Verify a 3D-Printable STL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The product concept must be delivered as a small physical prototype for ergonomic review.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millimetre-scale STL, printable-source Blender file and slicer-readiness checklist.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K4 · K5 · A4 · A6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Convert a model into a watertight, correctly scaled print candidate with manufacturability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207</a:t>
            </a:r>
          </a:p>
        </p:txBody>
      </p:sp>
    </p:spTree>
  </p:cSld>
  <p:transition spd="fast">
    <p:fade/>
  </p:transition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11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ppy-fish-concept.jpg"/>
          <p:cNvPicPr>
            <a:picLocks noChangeAspect="1"/>
          </p:cNvPicPr>
          <p:nvPr/>
        </p:nvPicPr>
        <p:blipFill>
          <a:blip r:embed="rId2"/>
          <a:srcRect l="1520" r="15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208</a:t>
            </a:r>
          </a:p>
        </p:txBody>
      </p:sp>
    </p:spTree>
  </p:cSld>
  <p:transition spd="fast">
    <p:fade/>
  </p:transition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11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Print process and limits stated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Closed manifold volume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Wall thickness meets target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Re-import scale correct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Slicer warnings resolved or documented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millimetre-scale STL, printable-source Blender file and slicer-readiness checklist.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209</a:t>
            </a:r>
          </a:p>
        </p:txBody>
      </p:sp>
    </p:spTree>
  </p:cSld>
  <p:transition spd="fast">
    <p:fade/>
  </p:transition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11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Print process and limits stated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Closed manifold volume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Wall thickness meets target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Re-import scale correct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Slicer warnings resolved or documented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Dimension screenshot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Manifold/Face Orientation checks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Wall-thickness evidence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Re-import comparison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Slicer or readiness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210</a:t>
            </a:r>
          </a:p>
        </p:txBody>
      </p:sp>
    </p:spTree>
  </p:cSld>
  <p:transition spd="fast">
    <p:fade/>
  </p:transition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12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Capstone: Deliver an AI-Assisted 3D Asset Review Package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417320" cy="420624"/>
          </a:xfrm>
          <a:prstGeom prst="round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55648"/>
            <a:ext cx="1417320" cy="42062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ACTIVITY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95728"/>
            <a:ext cx="6766560" cy="10515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82230"/>
                </a:solidFill>
                <a:latin typeface="Arial"/>
              </a:rPr>
              <a:t>You are accountable for a complete product-asset handoff that will be reviewed by design, production and business stakeholders.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85032"/>
            <a:ext cx="676656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626364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626364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A release-candidate Blender asset, target export, validation dashboard and decision-ready presentation.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1755648"/>
            <a:ext cx="3758184" cy="3849624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103120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523744"/>
            <a:ext cx="315468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K1–K6 · A1–A6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410712"/>
            <a:ext cx="315468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009B8E"/>
                </a:solidFill>
                <a:latin typeface="Arial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840480"/>
            <a:ext cx="3154680" cy="1234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Arial"/>
              </a:rPr>
              <a:t>Integrate brief, AI assistance, Blender refinement, validation, export and stakeholder recommendation.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211</a:t>
            </a:r>
          </a:p>
        </p:txBody>
      </p:sp>
    </p:spTree>
  </p:cSld>
  <p:transition spd="fast">
    <p:fade/>
  </p:transition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ACTIVITY VISUAL · DETAILED STEPS ARE IN THE LEARNER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12 — example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26496" cy="4343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oduct-variants-v1.png"/>
          <p:cNvPicPr>
            <a:picLocks noChangeAspect="1"/>
          </p:cNvPicPr>
          <p:nvPr/>
        </p:nvPicPr>
        <p:blipFill>
          <a:blip r:embed="rId2"/>
          <a:srcRect l="4020" r="4020"/>
          <a:stretch>
            <a:fillRect/>
          </a:stretch>
        </p:blipFill>
        <p:spPr>
          <a:xfrm>
            <a:off x="822960" y="1874519"/>
            <a:ext cx="6903720" cy="4005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82712" y="2121408"/>
            <a:ext cx="3154680" cy="2697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82230"/>
                </a:solidFill>
                <a:latin typeface="Arial"/>
              </a:rPr>
              <a:t>Use this as a visual benchmark, then replace it with your own Blender view. Your submission must show the editable source, measured checks and acceptance result—not only a polished render.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2712" y="5093208"/>
            <a:ext cx="315468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D6878"/>
                </a:solidFill>
                <a:latin typeface="Arial"/>
              </a:rPr>
              <a:t>Concept visual — validate against the editable Blender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212</a:t>
            </a:r>
          </a:p>
        </p:txBody>
      </p:sp>
    </p:spTree>
  </p:cSld>
  <p:transition spd="fast">
    <p:fade/>
  </p:transition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ACCEPTANCE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12 — quality gates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Form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All K/A areas evidenced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Baseline and versions traceable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Structure</a:t>
            </a:r>
          </a:p>
        </p:txBody>
      </p:sp>
      <p:sp>
        <p:nvSpPr>
          <p:cNvPr id="16" name="Oval 15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Blocking checks passed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Round-trip export verified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Delivery</a:t>
            </a:r>
          </a:p>
        </p:txBody>
      </p:sp>
      <p:sp>
        <p:nvSpPr>
          <p:cNvPr id="23" name="Oval 22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Recommendation and limitations clear</a:t>
            </a:r>
          </a:p>
        </p:txBody>
      </p:sp>
      <p:sp>
        <p:nvSpPr>
          <p:cNvPr id="25" name="Oval 24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 release-candidate Blender asset, target export, validation dashboard and decision-ready presentation.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213</a:t>
            </a:r>
          </a:p>
        </p:txBody>
      </p:sp>
    </p:spTree>
  </p:cSld>
  <p:transition spd="fast">
    <p:fade/>
  </p:transition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VERIFY, DOCUMENT,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Activity 12 — acceptance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230368" cy="4297680"/>
          </a:xfrm>
          <a:prstGeom prst="roundRect">
            <a:avLst/>
          </a:prstGeom>
          <a:solidFill>
            <a:srgbClr val="E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057400"/>
            <a:ext cx="466344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9B8E"/>
                </a:solidFill>
                <a:latin typeface="Arial"/>
              </a:rPr>
              <a:t>ACCEPTANCE CHECKS</a:t>
            </a:r>
          </a:p>
        </p:txBody>
      </p:sp>
      <p:sp>
        <p:nvSpPr>
          <p:cNvPr id="8" name="Oval 7"/>
          <p:cNvSpPr/>
          <p:nvPr/>
        </p:nvSpPr>
        <p:spPr>
          <a:xfrm>
            <a:off x="941832" y="2642616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All K/A areas evidenced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264408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227832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Baseline and versions traceable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886200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849624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Blocking checks passed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507992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471416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Round-trip export verified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5129784"/>
            <a:ext cx="246888" cy="246888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093208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Recommendation and limitations clear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783080"/>
            <a:ext cx="5285232" cy="4297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2057400"/>
            <a:ext cx="4709160" cy="3474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04CD9"/>
                </a:solidFill>
                <a:latin typeface="Arial"/>
              </a:rPr>
              <a:t>EVIDENCE TO SUBMIT</a:t>
            </a:r>
          </a:p>
        </p:txBody>
      </p:sp>
      <p:sp>
        <p:nvSpPr>
          <p:cNvPr id="20" name="Oval 19"/>
          <p:cNvSpPr/>
          <p:nvPr/>
        </p:nvSpPr>
        <p:spPr>
          <a:xfrm>
            <a:off x="6483096" y="26426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76288" y="26060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Brief and provenance</a:t>
            </a:r>
          </a:p>
        </p:txBody>
      </p:sp>
      <p:sp>
        <p:nvSpPr>
          <p:cNvPr id="22" name="Oval 21"/>
          <p:cNvSpPr/>
          <p:nvPr/>
        </p:nvSpPr>
        <p:spPr>
          <a:xfrm>
            <a:off x="6483096" y="319125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76288" y="315468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Version history</a:t>
            </a:r>
          </a:p>
        </p:txBody>
      </p:sp>
      <p:sp>
        <p:nvSpPr>
          <p:cNvPr id="24" name="Oval 23"/>
          <p:cNvSpPr/>
          <p:nvPr/>
        </p:nvSpPr>
        <p:spPr>
          <a:xfrm>
            <a:off x="6483096" y="373989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76288" y="370332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Validation dashboard</a:t>
            </a:r>
          </a:p>
        </p:txBody>
      </p:sp>
      <p:sp>
        <p:nvSpPr>
          <p:cNvPr id="26" name="Oval 25"/>
          <p:cNvSpPr/>
          <p:nvPr/>
        </p:nvSpPr>
        <p:spPr>
          <a:xfrm>
            <a:off x="6483096" y="428853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76288" y="425196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Final render set</a:t>
            </a:r>
          </a:p>
        </p:txBody>
      </p:sp>
      <p:sp>
        <p:nvSpPr>
          <p:cNvPr id="28" name="Oval 27"/>
          <p:cNvSpPr/>
          <p:nvPr/>
        </p:nvSpPr>
        <p:spPr>
          <a:xfrm>
            <a:off x="6483096" y="483717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480060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Round-trip result</a:t>
            </a:r>
          </a:p>
        </p:txBody>
      </p:sp>
      <p:sp>
        <p:nvSpPr>
          <p:cNvPr id="30" name="Oval 29"/>
          <p:cNvSpPr/>
          <p:nvPr/>
        </p:nvSpPr>
        <p:spPr>
          <a:xfrm>
            <a:off x="6483096" y="5385816"/>
            <a:ext cx="246888" cy="246888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5349240"/>
            <a:ext cx="41605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70" b="0">
                <a:solidFill>
                  <a:srgbClr val="182230"/>
                </a:solidFill>
                <a:latin typeface="Arial"/>
              </a:rPr>
              <a:t>Stakeholder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214</a:t>
            </a:r>
          </a:p>
        </p:txBody>
      </p:sp>
    </p:spTree>
  </p:cSld>
  <p:transition spd="fast">
    <p:fade/>
  </p:transition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04CD9"/>
                </a:solidFill>
                <a:latin typeface="Arial"/>
              </a:rPr>
              <a:t>WHAT YOU CAN NOW DEMONSTRATE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Topic 3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15 decision-ready frameworks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Activities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Activities 9–12 completed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Editable Blender files, metrics and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K3 · K4 · K5 · K6 · A3 · A5 · A6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215</a:t>
            </a:r>
          </a:p>
        </p:txBody>
      </p:sp>
    </p:spTree>
  </p:cSld>
  <p:transition spd="fast">
    <p:fade/>
  </p:transition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565392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8778240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09B8E"/>
                </a:solidFill>
                <a:latin typeface="Arial"/>
              </a:rPr>
              <a:t>COURSE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9052560" cy="14630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Review, assessment and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749039"/>
            <a:ext cx="896112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From AI-assisted idea to accountable 3D 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777240"/>
            <a:ext cx="18288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6400" b="1">
                <a:solidFill>
                  <a:srgbClr val="009B8E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216</a:t>
            </a:r>
          </a:p>
        </p:txBody>
      </p:sp>
    </p:spTree>
  </p:cSld>
  <p:transition spd="fast">
    <p:push/>
  </p:transition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Translate requirements into prompts, scripts and controlled variants.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Refine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Repair topology, normals, UVs and materials in Blender.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Validate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metrics and evidence rather than appearance alone.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Deliver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Prepare target-specific renders, exports and documentation.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217</a:t>
            </a:r>
          </a:p>
        </p:txBody>
      </p:sp>
    </p:spTree>
  </p:cSld>
  <p:transition spd="fast">
    <p:fade/>
  </p:transition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END-TO-END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Production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Brief and acceptance criteria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AI-assisted concept or script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Blender refinement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Validation and target export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Release package and approval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218</a:t>
            </a:r>
          </a:p>
        </p:txBody>
      </p:sp>
    </p:spTree>
  </p:cSld>
  <p:transition spd="fast">
    <p:fade/>
  </p:transition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The accountable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74519"/>
            <a:ext cx="10771632" cy="324612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40280"/>
            <a:ext cx="10012680" cy="12344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AI accelerates possibilities; Blender and human review turn them into production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822191"/>
            <a:ext cx="1001268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Release only what you can explain, validate and reproduce.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219</a:t>
            </a:r>
          </a:p>
        </p:txBody>
      </p:sp>
    </p:spTree>
  </p:cSld>
  <p:transition spd="fast">
    <p:fade/>
  </p:transition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DOWNLOAD AND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Trainer slides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Learner slides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28853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Learner Guide and Lesson 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Activities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Instructions and checklists</a:t>
            </a:r>
          </a:p>
        </p:txBody>
      </p:sp>
      <p:sp>
        <p:nvSpPr>
          <p:cNvPr id="20" name="Oval 19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Starter/example Blender files</a:t>
            </a:r>
          </a:p>
        </p:txBody>
      </p:sp>
      <p:sp>
        <p:nvSpPr>
          <p:cNvPr id="22" name="Oval 21"/>
          <p:cNvSpPr/>
          <p:nvPr/>
        </p:nvSpPr>
        <p:spPr>
          <a:xfrm>
            <a:off x="4626864" y="4288536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Sample evidence presentations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Assessment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Complete the WA then PP</a:t>
            </a:r>
          </a:p>
        </p:txBody>
      </p:sp>
      <p:sp>
        <p:nvSpPr>
          <p:cNvPr id="29" name="Oval 28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Upload question papers only</a:t>
            </a:r>
          </a:p>
        </p:txBody>
      </p:sp>
      <p:sp>
        <p:nvSpPr>
          <p:cNvPr id="31" name="Oval 30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Answer keys remain trainer-only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88920" y="5532120"/>
            <a:ext cx="6583680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98648" y="5577840"/>
            <a:ext cx="6364224" cy="3017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https://lms-tms.tertiaryinfotech.com/</a:t>
            </a:r>
          </a:p>
        </p:txBody>
      </p:sp>
    </p:spTree>
  </p:cSld>
  <p:transition spd="fast">
    <p:fade/>
  </p:transition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DAY 4 · 3:00 PM–6:00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8308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WA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78892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6 SAQs · K1–K6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53872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1 hour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28853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Open book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783080"/>
            <a:ext cx="3401568" cy="109728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09B8E"/>
                </a:solidFill>
                <a:latin typeface="Arial"/>
              </a:rPr>
              <a:t>PP</a:t>
            </a:r>
          </a:p>
        </p:txBody>
      </p:sp>
      <p:sp>
        <p:nvSpPr>
          <p:cNvPr id="18" name="Oval 17"/>
          <p:cNvSpPr/>
          <p:nvPr/>
        </p:nvSpPr>
        <p:spPr>
          <a:xfrm>
            <a:off x="4626864" y="2788920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3 Blender tasks · A1–A6</a:t>
            </a:r>
          </a:p>
        </p:txBody>
      </p:sp>
      <p:sp>
        <p:nvSpPr>
          <p:cNvPr id="20" name="Oval 19"/>
          <p:cNvSpPr/>
          <p:nvPr/>
        </p:nvSpPr>
        <p:spPr>
          <a:xfrm>
            <a:off x="4626864" y="3538728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2 hours</a:t>
            </a:r>
          </a:p>
        </p:txBody>
      </p:sp>
      <p:sp>
        <p:nvSpPr>
          <p:cNvPr id="22" name="Oval 21"/>
          <p:cNvSpPr/>
          <p:nvPr/>
        </p:nvSpPr>
        <p:spPr>
          <a:xfrm>
            <a:off x="4626864" y="4288536"/>
            <a:ext cx="237744" cy="2377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Open book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1783080"/>
            <a:ext cx="3401568" cy="42793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1783080"/>
            <a:ext cx="3401568" cy="109728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8" y="2057400"/>
            <a:ext cx="2880360" cy="502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04CD9"/>
                </a:solidFill>
                <a:latin typeface="Arial"/>
              </a:rPr>
              <a:t>Complete</a:t>
            </a:r>
          </a:p>
        </p:txBody>
      </p:sp>
      <p:sp>
        <p:nvSpPr>
          <p:cNvPr id="27" name="Oval 26"/>
          <p:cNvSpPr/>
          <p:nvPr/>
        </p:nvSpPr>
        <p:spPr>
          <a:xfrm>
            <a:off x="8339328" y="2788920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0" y="2743200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Assessment attendance</a:t>
            </a:r>
          </a:p>
        </p:txBody>
      </p:sp>
      <p:sp>
        <p:nvSpPr>
          <p:cNvPr id="29" name="Oval 28"/>
          <p:cNvSpPr/>
          <p:nvPr/>
        </p:nvSpPr>
        <p:spPr>
          <a:xfrm>
            <a:off x="8339328" y="3538728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493008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Upload to LMS</a:t>
            </a:r>
          </a:p>
        </p:txBody>
      </p:sp>
      <p:sp>
        <p:nvSpPr>
          <p:cNvPr id="31" name="Oval 30"/>
          <p:cNvSpPr/>
          <p:nvPr/>
        </p:nvSpPr>
        <p:spPr>
          <a:xfrm>
            <a:off x="8339328" y="4288536"/>
            <a:ext cx="237744" cy="2377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4242816"/>
            <a:ext cx="2514600" cy="60350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182230"/>
                </a:solidFill>
                <a:latin typeface="Arial"/>
              </a:rPr>
              <a:t>Sign summary record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221</a:t>
            </a:r>
          </a:p>
        </p:txBody>
      </p:sp>
    </p:spTree>
  </p:cSld>
  <p:transition spd="fast">
    <p:fade/>
  </p:transition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E85D5D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Assessment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3700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3700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TRAQOM / SSG attendance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82265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74873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98494" y="2404872"/>
            <a:ext cx="694944" cy="694944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8494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9465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Written Assessment (SAQ)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17059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09667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404872"/>
            <a:ext cx="694944" cy="694944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33288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4259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Practical Performance (PP)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51852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44460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968081" y="2404872"/>
            <a:ext cx="694944" cy="694944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68081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9052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Upload answers to LMS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6646" y="3611880"/>
            <a:ext cx="292608" cy="0"/>
          </a:xfrm>
          <a:prstGeom prst="line">
            <a:avLst/>
          </a:prstGeom>
          <a:ln w="25400">
            <a:solidFill>
              <a:srgbClr val="E85D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579254" y="2057400"/>
            <a:ext cx="1942185" cy="309067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202875" y="2404872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02875" y="2404872"/>
            <a:ext cx="694944" cy="69494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3846" y="3355848"/>
            <a:ext cx="1613001" cy="13258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182230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222</a:t>
            </a:r>
          </a:p>
        </p:txBody>
      </p:sp>
    </p:spTree>
  </p:cSld>
  <p:transition spd="fast">
    <p:fade/>
  </p:transition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19072"/>
            <a:ext cx="82296" cy="21396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947672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Use the QR code shown by the trainer or administrator.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4204" y="1719072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4204" y="1719072"/>
            <a:ext cx="82296" cy="2139696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23660" y="1947672"/>
            <a:ext cx="502920" cy="502920"/>
          </a:xfrm>
          <a:prstGeom prst="ellipse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1947672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0316" y="1883664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Submit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0316" y="2340864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Confirm the assessment attendance is recorded.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4078224"/>
            <a:ext cx="82296" cy="2139696"/>
          </a:xfrm>
          <a:prstGeom prst="rect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7824" y="4306824"/>
            <a:ext cx="502920" cy="502920"/>
          </a:xfrm>
          <a:prstGeom prst="ellipse">
            <a:avLst/>
          </a:prstGeom>
          <a:solidFill>
            <a:srgbClr val="704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Complete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Sit the WA and PP within the declared timing.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4204" y="4078224"/>
            <a:ext cx="5289804" cy="213969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204" y="4078224"/>
            <a:ext cx="82296" cy="2139696"/>
          </a:xfrm>
          <a:prstGeom prst="rect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23660" y="4306824"/>
            <a:ext cx="502920" cy="502920"/>
          </a:xfrm>
          <a:prstGeom prst="ellipse">
            <a:avLst/>
          </a:prstGeom>
          <a:solidFill>
            <a:srgbClr val="F29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3660" y="4306824"/>
            <a:ext cx="50292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0316" y="4242816"/>
            <a:ext cx="4192524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>
                <a:solidFill>
                  <a:srgbClr val="182230"/>
                </a:solidFill>
                <a:latin typeface="Arial"/>
              </a:rPr>
              <a:t>Retain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0316" y="4700016"/>
            <a:ext cx="4192524" cy="138988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878"/>
                </a:solidFill>
                <a:latin typeface="Arial"/>
              </a:rPr>
              <a:t>Follow trainer instructions for assessment records.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223</a:t>
            </a:r>
          </a:p>
        </p:txBody>
      </p:sp>
    </p:spTree>
  </p:cSld>
  <p:transition spd="fast">
    <p:fade/>
  </p:transition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1600200"/>
          </a:xfrm>
          <a:prstGeom prst="rect">
            <a:avLst/>
          </a:prstGeom>
          <a:solidFill>
            <a:srgbClr val="00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10896"/>
            <a:ext cx="10698480" cy="29260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9B8E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10835640" cy="80467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182230"/>
                </a:solidFill>
                <a:latin typeface="Arial"/>
              </a:rPr>
              <a:t>Thank you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74519"/>
            <a:ext cx="10771632" cy="3246120"/>
          </a:xfrm>
          <a:prstGeom prst="round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40280"/>
            <a:ext cx="10012680" cy="12344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You are ready to build, validate and deliver AI-assisted 3D assets with Blender.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822191"/>
            <a:ext cx="10012680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D8E0EA"/>
                </a:solidFill>
                <a:latin typeface="Arial"/>
              </a:rPr>
              <a:t>Create boldly. Validate rigorously.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11C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601968"/>
            <a:ext cx="6217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Generative AI for 3D Modeling · TGS-2023037544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6601968"/>
            <a:ext cx="43891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601968"/>
            <a:ext cx="59436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Arial"/>
              </a:rPr>
              <a:t>224</a:t>
            </a:r>
          </a:p>
        </p:txBody>
      </p:sp>
    </p:spTree>
  </p:cSld>
  <p:transition spd="fast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